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Ansible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0BEC5"/>
                </a:solidFill>
              </a:defRPr>
            </a:pPr>
            <a:r>
              <a:t>What They Are, Why We Use Them &amp; Real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9688"/>
                </a:solidFill>
              </a:defRPr>
            </a:pPr>
            <a:r>
              <a:t>MS Office 2016 LAN Deployment | Ansible AWX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What is Ansible?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What is a Module?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Why We Use Modules in Ansible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Module vs Command / Shell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Module Categories &amp; Anatomy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Idempotency Explained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Real Examples from Our Project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Best Practices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Ansible?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Agentless IT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Open-source tool for configuration, deployment, and orchestration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Uses simple YAML playbooks — no programming required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Agentless: connects via SSH (Linux) or WinRM (Windows)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Core building blocks: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Inventory — list of managed hosts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Playbook — automation workflow in YAML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Module — single action performed on a host</a:t>
            </a:r>
          </a:p>
          <a:p>
            <a:pPr lvl="1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Role — organized tasks, vars, and templates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This project: AWX runs playbooks to install Office 2016 on Windows LAN PCs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a Module?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The 'verb' of Ansible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A standalone unit of code pushed to managed nodes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Performs ONE specific, well-defined action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Checks current state → compares to desired state → changes only if needed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Returns structured JSON: changed, failed, msg, and more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Example: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11064240" cy="1463040"/>
          </a:xfrm>
          <a:prstGeom prst="roundRect">
            <a:avLst/>
          </a:prstGeom>
          <a:solidFill>
            <a:srgbClr val="2D2D2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- name: Ensure staging directory exists</a:t>
            </a:r>
            <a:br/>
            <a:r>
              <a:t>  ansible.windows.win_file:</a:t>
            </a:r>
            <a:br/>
            <a:r>
              <a:t>    path: C:\Temp\Office2016</a:t>
            </a:r>
            <a:br/>
            <a:r>
              <a:t>    state: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How Modules Execute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Agentless push-run-return cycle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463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AWX / Control Node sends module + parameters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Module copied to target Windows PC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34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Module runs locally on the managed node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20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Checks state and applies changes if needed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062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206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Returns JSON result to Ansible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8920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92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Playbook continues based on result (ok / changed / failed)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We Use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Six key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1B3A5C"/>
                </a:solidFill>
              </a:defRPr>
            </a:pPr>
            <a:r>
              <a:t>Idempotency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Safe to re-run playbooks</a:t>
            </a:r>
            <a:br/>
            <a:r>
              <a:t>No duplicate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1B3A5C"/>
                </a:solidFill>
              </a:defRPr>
            </a:pPr>
            <a:r>
              <a:t>Declarative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Describe WHAT you want</a:t>
            </a:r>
            <a:br/>
            <a:r>
              <a:t>Module handles HOW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1B3A5C"/>
                </a:solidFill>
              </a:defRPr>
            </a:pPr>
            <a:r>
              <a:t>Structured Output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JSON results for</a:t>
            </a:r>
            <a:br/>
            <a:r>
              <a:t>conditionals &amp; registers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1B3A5C"/>
                </a:solidFill>
              </a:defRPr>
            </a:pPr>
            <a:r>
              <a:t>Cross-Platform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Same patterns,</a:t>
            </a:r>
            <a:br/>
            <a:r>
              <a:t>OS-specific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1B3A5C"/>
                </a:solidFill>
              </a:defRPr>
            </a:pPr>
            <a:r>
              <a:t>Security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Reviewable parameters</a:t>
            </a:r>
            <a:br/>
            <a:r>
              <a:t>vs raw shell 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1B3A5C"/>
                </a:solidFill>
              </a:defRPr>
            </a:pPr>
            <a:r>
              <a:t>Ecosystem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1000s of modules for</a:t>
            </a:r>
            <a:br/>
            <a:r>
              <a:t>cloud, network, DB, etc.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vs Command / Shell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200400" cy="502920"/>
          </a:xfrm>
          <a:prstGeom prst="rect">
            <a:avLst/>
          </a:prstGeom>
          <a:solidFill>
            <a:srgbClr val="1B3A5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0" y="1463040"/>
            <a:ext cx="3474720" cy="502920"/>
          </a:xfrm>
          <a:prstGeom prst="rect">
            <a:avLst/>
          </a:prstGeom>
          <a:solidFill>
            <a:srgbClr val="1B3A5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463040"/>
            <a:ext cx="3474720" cy="502920"/>
          </a:xfrm>
          <a:prstGeom prst="rect">
            <a:avLst/>
          </a:prstGeom>
          <a:solidFill>
            <a:srgbClr val="1B3A5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Shell /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Idempotent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993392"/>
            <a:ext cx="3474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Yes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993392"/>
            <a:ext cx="3474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No ✗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23744"/>
            <a:ext cx="3200400" cy="502920"/>
          </a:xfrm>
          <a:prstGeom prst="rect">
            <a:avLst/>
          </a:prstGeom>
          <a:solidFill>
            <a:srgbClr val="F4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Declarative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523744"/>
            <a:ext cx="3474720" cy="502920"/>
          </a:xfrm>
          <a:prstGeom prst="rect">
            <a:avLst/>
          </a:prstGeom>
          <a:solidFill>
            <a:srgbClr val="F4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Yes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523744"/>
            <a:ext cx="3474720" cy="502920"/>
          </a:xfrm>
          <a:prstGeom prst="rect">
            <a:avLst/>
          </a:prstGeom>
          <a:solidFill>
            <a:srgbClr val="F4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Imperative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054096"/>
            <a:ext cx="3474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Structured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054096"/>
            <a:ext cx="3474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Raw stdout/stderr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84448"/>
            <a:ext cx="3200400" cy="502920"/>
          </a:xfrm>
          <a:prstGeom prst="rect">
            <a:avLst/>
          </a:prstGeom>
          <a:solidFill>
            <a:srgbClr val="F4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Best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584448"/>
            <a:ext cx="3474720" cy="502920"/>
          </a:xfrm>
          <a:prstGeom prst="rect">
            <a:avLst/>
          </a:prstGeom>
          <a:solidFill>
            <a:srgbClr val="F4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Config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584448"/>
            <a:ext cx="3474720" cy="502920"/>
          </a:xfrm>
          <a:prstGeom prst="rect">
            <a:avLst/>
          </a:prstGeom>
          <a:solidFill>
            <a:srgbClr val="F4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Legacy tools, no module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Change detect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114800"/>
            <a:ext cx="3474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Automatic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114800"/>
            <a:ext cx="3474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Manual (changed_when)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67E22"/>
                </a:solidFill>
              </a:defRPr>
            </a:pPr>
            <a:r>
              <a:t>Rule: Prefer modules. Use win_shell only when no module exists (e.g., ODT setup.exe).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Common module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Files &amp; Directories:  file, win_file, copy, win_copy, template, win_template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Packages:             yum, apt, win_package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Services:             service, win_service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Information:          setup, win_stat, win_reg_stat, debug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System Control:       reboot, win_reboot, user, win_user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Cloud &amp; Network:      amazon.aws.*, azure.azcollection.*, cisco.ios.*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This project uses ansible.windows collection modules exclusively for Windows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Anatomy of a Module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FQCN + parameters + handlers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3200400"/>
          </a:xfrm>
          <a:prstGeom prst="roundRect">
            <a:avLst/>
          </a:prstGeom>
          <a:solidFill>
            <a:srgbClr val="2D2D2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- name: Copy setup.exe from LAN share          # Task name</a:t>
            </a:r>
            <a:br/>
            <a:r>
              <a:t>  ansible.windows.win_copy:                      # FQCN</a:t>
            </a:r>
            <a:br/>
            <a:r>
              <a:t>    src: "{{ office2016_lan_source_path }}\\setup.exe"</a:t>
            </a:r>
            <a:br/>
            <a:r>
              <a:t>    dest: "{{ office2016_staging_path }}\\setup.exe"</a:t>
            </a:r>
            <a:br/>
            <a:r>
              <a:t>    remote_src: true                             # Parameters</a:t>
            </a:r>
            <a:br/>
            <a:r>
              <a:t>  register: copy_result                          # Save output</a:t>
            </a:r>
            <a:br/>
            <a:r>
              <a:t>  when: office2016_lan_setup.stat.exists         # Conditional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FQCN = namespace.collection.module_name (e.g., ansible.windows.win_copy)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register: saves JSON output for use in when: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Idempotency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Run once or a hundred times — same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Idempotent = applying config multiple times does NOT cause harm or duplicates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Our Office 2016 role:</a:t>
            </a:r>
          </a:p>
          <a:p>
            <a:pPr lvl="1"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1. win_reg_stat checks if Office 16.0 registry key exists</a:t>
            </a:r>
          </a:p>
          <a:p>
            <a:pPr lvl="1"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2. If installed → skip entire install block</a:t>
            </a:r>
          </a:p>
          <a:p>
            <a:pPr lvl="1"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3. If not installed → copy files, run setup.exe, verify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First AWX run:  changed: true  (Office installed)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Second AWX run: ok / skipped   (Office already present)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Enables safe weekly scheduled deployments across the LAN!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Example 1: win_reg_stat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Check if Office 2016 is installed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2194560"/>
          </a:xfrm>
          <a:prstGeom prst="roundRect">
            <a:avLst/>
          </a:prstGeom>
          <a:solidFill>
            <a:srgbClr val="2D2D2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- name: Check if Microsoft Office 2016 is already installed</a:t>
            </a:r>
            <a:br/>
            <a:r>
              <a:t>  ansible.windows.win_reg_stat:</a:t>
            </a:r>
            <a:br/>
            <a:r>
              <a:t>    path: HKLM:\SOFTWARE\Microsoft\Office\16.0\Common\InstallRoot</a:t>
            </a:r>
            <a:br/>
            <a:r>
              <a:t>    name: Path</a:t>
            </a:r>
            <a:br/>
            <a:r>
              <a:t>  register: office2016_reg</a:t>
            </a:r>
            <a:br/>
            <a:r>
              <a:t>  failed_when: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Reads Windows registry safely on remote host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Returns exists: true/false and value for install path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Used with when: to skip install on already-configured PCs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Example 2: win_file &amp; win_stat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Prepare and validate paths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2926080"/>
          </a:xfrm>
          <a:prstGeom prst="roundRect">
            <a:avLst/>
          </a:prstGeom>
          <a:solidFill>
            <a:srgbClr val="2D2D2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- name: Ensure Office staging directory exists</a:t>
            </a:r>
            <a:br/>
            <a:r>
              <a:t>  ansible.windows.win_file:</a:t>
            </a:r>
            <a:br/>
            <a:r>
              <a:t>    path: "{{ office2016_staging_path }}"</a:t>
            </a:r>
            <a:br/>
            <a:r>
              <a:t>    state: directory</a:t>
            </a:r>
            <a:br/>
            <a:br/>
            <a:r>
              <a:t>- name: Verify LAN source path is reachable</a:t>
            </a:r>
            <a:br/>
            <a:r>
              <a:t>  ansible.windows.win_stat:</a:t>
            </a:r>
            <a:br/>
            <a:r>
              <a:t>    path: "{{ office2016_lan_source_path }}\\setup.exe"</a:t>
            </a:r>
            <a:br/>
            <a:r>
              <a:t>  register: office2016_lan_setup</a:t>
            </a:r>
            <a:br/>
            <a:r>
              <a:t>  failed_when: not office2016_lan_setup.stat.exists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win_file: idempotent directory creation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win_stat: validates UNC share before copy — fails fast with clear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Example 3: win_copy &amp; win_template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Deploy Office files from LAN share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3108960"/>
          </a:xfrm>
          <a:prstGeom prst="roundRect">
            <a:avLst/>
          </a:prstGeom>
          <a:solidFill>
            <a:srgbClr val="2D2D2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- name: Copy setup.exe from LAN share to staging</a:t>
            </a:r>
            <a:br/>
            <a:r>
              <a:t>  ansible.windows.win_copy:</a:t>
            </a:r>
            <a:br/>
            <a:r>
              <a:t>    src: "{{ office2016_lan_source_path }}\\setup.exe"</a:t>
            </a:r>
            <a:br/>
            <a:r>
              <a:t>    dest: "{{ office2016_staging_path }}\\setup.exe"</a:t>
            </a:r>
            <a:br/>
            <a:r>
              <a:t>    remote_src: true</a:t>
            </a:r>
            <a:br/>
            <a:br/>
            <a:r>
              <a:t>- name: Generate configuration.xml</a:t>
            </a:r>
            <a:br/>
            <a:r>
              <a:t>  ansible.windows.win_template:</a:t>
            </a:r>
            <a:br/>
            <a:r>
              <a:t>    src: configuration.xml.j2</a:t>
            </a:r>
            <a:br/>
            <a:r>
              <a:t>    dest: "{{ office2016_staging_path }}\\configuration.xml"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win_copy with remote_src: copies from LAN UNC path on the Windows target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win_template: renders Jinja2 variables into Office ODT configuration XML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Example 4: win_reboot &amp;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Complete the deployment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2926080"/>
          </a:xfrm>
          <a:prstGeom prst="roundRect">
            <a:avLst/>
          </a:prstGeom>
          <a:solidFill>
            <a:srgbClr val="2D2D2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- name: Reboot when setup requires it (exit 3010)</a:t>
            </a:r>
            <a:br/>
            <a:r>
              <a:t>  ansible.windows.win_reboot:</a:t>
            </a:r>
            <a:br/>
            <a:r>
              <a:t>    reboot_timeout: 900</a:t>
            </a:r>
            <a:br/>
            <a:r>
              <a:t>  when:</a:t>
            </a:r>
            <a:br/>
            <a:r>
              <a:t>    - office2016_reboot in ['always', 'if_required']</a:t>
            </a:r>
            <a:br/>
            <a:r>
              <a:t>    - office2016_install.rc == 3010</a:t>
            </a:r>
            <a:br/>
            <a:br/>
            <a:r>
              <a:t>- name: Report successful installation</a:t>
            </a:r>
            <a:br/>
            <a:r>
              <a:t>  ansible.builtin.debug:</a:t>
            </a:r>
            <a:br/>
            <a:r>
              <a:t>    msg: "Office 2016 installed at {{ office2016_verify.value }}"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win_reboot: safely reboots and waits for WinRM to return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debug: prints success message visible in AWX job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When to Use win_shell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9688"/>
                </a:solidFill>
              </a:defRPr>
            </a:pPr>
            <a:r>
              <a:t>No module for ODT setup.exe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3200400"/>
          </a:xfrm>
          <a:prstGeom prst="roundRect">
            <a:avLst/>
          </a:prstGeom>
          <a:solidFill>
            <a:srgbClr val="2D2D2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- name: Install Microsoft Office 2016 silently via ODT</a:t>
            </a:r>
            <a:br/>
            <a:r>
              <a:t>  ansible.windows.win_shell: |</a:t>
            </a:r>
            <a:br/>
            <a:r>
              <a:t>    $setup = Join-Path '{{ office2016_staging_path }}' 'setup.exe'</a:t>
            </a:r>
            <a:br/>
            <a:r>
              <a:t>    $config = Join-Path '{{ office2016_staging_path }}' 'configuration.xml'</a:t>
            </a:r>
            <a:br/>
            <a:r>
              <a:t>    $p = Start-Process -FilePath $setup `</a:t>
            </a:r>
            <a:br/>
            <a:r>
              <a:t>      -ArgumentList "/configure `"$config`"" -PassThru -Wait</a:t>
            </a:r>
            <a:br/>
            <a:r>
              <a:t>    exit $p.ExitCode</a:t>
            </a:r>
            <a:br/>
            <a:r>
              <a:t>  register: office2016_install</a:t>
            </a:r>
            <a:br/>
            <a:r>
              <a:t>  failed_when: office2016_install.rc not in [0, 3010]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Microsoft ODT has no dedicated Ansible module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Shell wraps installer; failed_when treats exit 3010 (reboot needed) as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Prefer modules over shell commands whenever a module exists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Use FQCN: ansible.builtin.debug instead of bare debug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Give every task a descriptive name for AWX logs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Use register: to capture output for when: conditionals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Pin collection versions in requirements.yml for AWX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Test idempotency — run playbook twice; second run should be mostly ok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Use failed_when: for expected non-zero exit codes (e.g., 3010)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</a:defRPr>
            </a:pPr>
            <a:r>
              <a:t>Module = reusable action unit (the 'verb' of Ansible)</a:t>
            </a:r>
          </a:p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</a:defRPr>
            </a:pPr>
            <a:r>
              <a:t>Why modules: idempotency, declarative config, structured output, security</a:t>
            </a:r>
          </a:p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</a:defRPr>
            </a:pPr>
            <a:r>
              <a:t>FQCN format: namespace.collection.module_name</a:t>
            </a:r>
          </a:p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</a:defRPr>
            </a:pPr>
            <a:r>
              <a:t>Collections extend Ansible (this project: ansible.windows)</a:t>
            </a:r>
          </a:p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</a:defRPr>
            </a:pPr>
            <a:r>
              <a:t>Real examples: win_reg_stat, win_file, win_copy, win_template, win_reboot</a:t>
            </a:r>
          </a:p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</a:defRPr>
            </a:pPr>
            <a:r>
              <a:t>Use shell only when no suitable module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Ansible Modules | MS Office 2016 LAN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0BEC5"/>
                </a:solidFill>
              </a:defRPr>
            </a:pPr>
            <a:r>
              <a:t>Questions?</a:t>
            </a:r>
          </a:p>
          <a:p>
            <a:pPr>
              <a:defRPr sz="1600">
                <a:solidFill>
                  <a:srgbClr val="B0BEC5"/>
                </a:solidFill>
              </a:defRPr>
            </a:pPr>
          </a:p>
          <a:p>
            <a:pPr>
              <a:defRPr sz="1600">
                <a:solidFill>
                  <a:srgbClr val="B0BEC5"/>
                </a:solidFill>
              </a:defRPr>
            </a:pPr>
            <a:r>
              <a:t>Docs: docs.ansible.com | Collection: ansible.windows</a:t>
            </a:r>
          </a:p>
          <a:p>
            <a:pPr>
              <a:defRPr sz="1600">
                <a:solidFill>
                  <a:srgbClr val="B0BEC5"/>
                </a:solidFill>
              </a:defRPr>
            </a:pPr>
            <a:r>
              <a:t>Project: github.com/hussaini-8024/Project.git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